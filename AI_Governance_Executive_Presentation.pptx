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1F4E5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631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4E5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60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4E5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Govern</c:v>
                  </c:pt>
                  <c:pt idx="1">
                    <c:v>Map</c:v>
                  </c:pt>
                  <c:pt idx="2">
                    <c:v>Measure</c:v>
                  </c:pt>
                  <c:pt idx="3">
                    <c:v>Manage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2.3</c:v>
                </c:pt>
                <c:pt idx="1">
                  <c:v>2.3</c:v>
                </c:pt>
                <c:pt idx="2">
                  <c:v>1.3</c:v>
                </c:pt>
                <c:pt idx="3">
                  <c:v>2.3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2631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1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A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5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GOVERNANCE STARTER PACK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6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Industrial Safety AI System — Governance Review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68680" y="3794760"/>
            <a:ext cx="2011680" cy="0"/>
          </a:xfrm>
          <a:prstGeom prst="line">
            <a:avLst/>
          </a:prstGeom>
          <a:noFill/>
          <a:ln w="31750">
            <a:solidFill>
              <a:srgbClr val="D97B3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4023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DB"/>
                </a:solidFill>
              </a:rPr>
              <a:t>Prepared for: IT Leadership, EHS, and Legal Stakeholder Review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AA"/>
                </a:solidFill>
              </a:rPr>
              <a:t>Prepared by: David Amoako-Attah  |  AI Governance Analyst  |  8/8/2026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B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Review Matters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1E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1F4E5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22860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B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Safety Stakes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310896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313A"/>
                </a:solidFill>
              </a:rPr>
              <a:t>The AI camera system directly informs decisions that affect worker safety on the floor — not a back-office analytics tool.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3716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1EC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617720" y="1691640"/>
            <a:ext cx="457200" cy="457200"/>
          </a:xfrm>
          <a:prstGeom prst="ellipse">
            <a:avLst/>
          </a:prstGeom>
          <a:solidFill>
            <a:srgbClr val="D97B3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17720" y="22860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B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Worker-Management Exposure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17720" y="310896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313A"/>
                </a:solidFill>
              </a:rPr>
              <a:t>Detection tied to individual conduct sits in a high-risk category under emerging AI regulation (EU AI Act and similar frameworks).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0" y="13716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1E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458200" y="1691640"/>
            <a:ext cx="457200" cy="457200"/>
          </a:xfrm>
          <a:prstGeom prst="ellipse">
            <a:avLst/>
          </a:prstGeom>
          <a:solidFill>
            <a:srgbClr val="C0604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458200" y="22860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B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Accountability Gap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58200" y="310896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313A"/>
                </a:solidFill>
              </a:rPr>
              <a:t>No formal answer today to: who owns this system, and what happens if it misses a real hazard?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Governance Starter Pack  –  Site Safety Camera System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B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System Does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27632"/>
            <a:ext cx="128016" cy="128016"/>
          </a:xfrm>
          <a:prstGeom prst="ellipse">
            <a:avLst/>
          </a:prstGeom>
          <a:solidFill>
            <a:srgbClr val="D97B3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60120" y="14813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13A"/>
                </a:solidFill>
              </a:rPr>
              <a:t>PPE detection (hard hats, vests, harnesses)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9424"/>
            <a:ext cx="128016" cy="128016"/>
          </a:xfrm>
          <a:prstGeom prst="ellipse">
            <a:avLst/>
          </a:prstGeom>
          <a:solidFill>
            <a:srgbClr val="D97B3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60120" y="2103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13A"/>
                </a:solidFill>
              </a:rPr>
              <a:t>Restricted-zone / perimeter breach detection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871216"/>
            <a:ext cx="128016" cy="128016"/>
          </a:xfrm>
          <a:prstGeom prst="ellipse">
            <a:avLst/>
          </a:prstGeom>
          <a:solidFill>
            <a:srgbClr val="D97B3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272491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13A"/>
                </a:solidFill>
              </a:rPr>
              <a:t>Fall / man-down detection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493008"/>
            <a:ext cx="128016" cy="128016"/>
          </a:xfrm>
          <a:prstGeom prst="ellipse">
            <a:avLst/>
          </a:prstGeom>
          <a:solidFill>
            <a:srgbClr val="D97B3F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60120" y="334670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13A"/>
                </a:solidFill>
              </a:rPr>
              <a:t>Proximity alerts near moving equipment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114800"/>
            <a:ext cx="128016" cy="128016"/>
          </a:xfrm>
          <a:prstGeom prst="ellipse">
            <a:avLst/>
          </a:prstGeom>
          <a:solidFill>
            <a:srgbClr val="D97B3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60120" y="3968496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13A"/>
                </a:solidFill>
              </a:rPr>
              <a:t>Safety-relevant behavior &amp; activity monitoring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589520" y="1463040"/>
            <a:ext cx="4023360" cy="3657600"/>
          </a:xfrm>
          <a:prstGeom prst="roundRect">
            <a:avLst>
              <a:gd name="adj" fmla="val 2000"/>
            </a:avLst>
          </a:prstGeom>
          <a:solidFill>
            <a:srgbClr val="1F4E5F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86384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B3F"/>
                </a:solidFill>
              </a:rPr>
              <a:t>SCOPE NOTE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63840" y="214884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This system detects objects and behaviors — it does not currently identify named individuals. That distinction is the single biggest factor in its risk classification (next slide).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Governance Starter Pack  –  Site Safety Camera System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B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Classification: High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BEAE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68680" y="123444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04A"/>
                </a:solidFill>
              </a:rPr>
              <a:t>Classified HIGH RISK — not because of the technology, but because of the context: it influences decisions about workers' safety and conduct.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4864" cy="777240"/>
          </a:xfrm>
          <a:prstGeom prst="rect">
            <a:avLst/>
          </a:prstGeom>
          <a:solidFill>
            <a:srgbClr val="D97B3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44144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3B48"/>
                </a:solidFill>
              </a:rPr>
              <a:t>Worker-management adjacency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06240" y="2441448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313A"/>
                </a:solidFill>
              </a:rPr>
              <a:t>Flags can trigger supervisory or disciplinary attention — the core factor regulators weight most heavily.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54864" cy="777240"/>
          </a:xfrm>
          <a:prstGeom prst="rect">
            <a:avLst/>
          </a:prstGeom>
          <a:solidFill>
            <a:srgbClr val="D97B3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331012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3B48"/>
                </a:solidFill>
              </a:rPr>
              <a:t>Physical safety consequence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06240" y="3310128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313A"/>
                </a:solidFill>
              </a:rPr>
              <a:t>A missed detection (false negative) can mean a real injury, not just an inconvenience.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54864" cy="777240"/>
          </a:xfrm>
          <a:prstGeom prst="rect">
            <a:avLst/>
          </a:prstGeom>
          <a:solidFill>
            <a:srgbClr val="D97B3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417880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3B48"/>
                </a:solidFill>
              </a:rPr>
              <a:t>Regulatory alignment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06240" y="4178808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313A"/>
                </a:solidFill>
              </a:rPr>
              <a:t>Treat as high-risk for internal governance because of safety and worker-management impact; Legal should confirm jurisdiction-specific regulatory classification.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54864" cy="777240"/>
          </a:xfrm>
          <a:prstGeom prst="rect">
            <a:avLst/>
          </a:prstGeom>
          <a:solidFill>
            <a:srgbClr val="D97B3F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504748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3B48"/>
                </a:solidFill>
              </a:rPr>
              <a:t>Accuracy not yet locally validated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06240" y="5047488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313A"/>
                </a:solidFill>
              </a:rPr>
              <a:t>No site-specific validation evidence is documented in this portfolio scenario across lighting, PPE variety, or worker demographics.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Governance Starter Pack  –  Site Safety Camera System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B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System Register — Snapshot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3291840"/>
        </p:xfrm>
        <a:graphic>
          <a:graphicData uri="http://schemas.openxmlformats.org/drawingml/2006/table">
            <a:tbl>
              <a:tblPr/>
              <a:tblGrid>
                <a:gridCol w="4023360"/>
                <a:gridCol w="2560320"/>
                <a:gridCol w="2194560"/>
                <a:gridCol w="2286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ID's Individuals?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Tier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 Safety Camera AI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EHS Safety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60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 Access Facial Recognition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Security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60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Predictive Maintenance AI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Reliability Eng.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B8C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HR Resume Screening (Pilot)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Talent Acquisition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60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Helpdesk Chatbot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Service Desk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B8C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A80"/>
                </a:solidFill>
              </a:rPr>
              <a:t>Full register with data inputs, deployment status, and risk rationale is provided as a separate working document.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Governance Starter Pack  –  Site Safety Camera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3B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#1 Gap We Found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4709160"/>
          </a:xfrm>
          <a:prstGeom prst="roundRect">
            <a:avLst>
              <a:gd name="adj" fmla="val 1942"/>
            </a:avLst>
          </a:prstGeom>
          <a:solidFill>
            <a:srgbClr val="F4F1E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1645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B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Available evidence does not yet demonstrate site-specific detection accuracy validation.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60120" y="2697480"/>
            <a:ext cx="118872" cy="118872"/>
          </a:xfrm>
          <a:prstGeom prst="ellipse">
            <a:avLst/>
          </a:prstGeom>
          <a:solidFill>
            <a:srgbClr val="D97B3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80160" y="253288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6313A"/>
                </a:solidFill>
              </a:rPr>
              <a:t>No validation across lighting, weather, or camera-angle variation specific to this site.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0120" y="3429000"/>
            <a:ext cx="118872" cy="118872"/>
          </a:xfrm>
          <a:prstGeom prst="ellipse">
            <a:avLst/>
          </a:prstGeom>
          <a:solidFill>
            <a:srgbClr val="D97B3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80160" y="32644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6313A"/>
                </a:solidFill>
              </a:rPr>
              <a:t>No validation across worker demographics or non-standard/site-specific PPE.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60120" y="4160520"/>
            <a:ext cx="118872" cy="118872"/>
          </a:xfrm>
          <a:prstGeom prst="ellipse">
            <a:avLst/>
          </a:prstGeom>
          <a:solidFill>
            <a:srgbClr val="D97B3F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280160" y="3995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6313A"/>
                </a:solidFill>
              </a:rPr>
              <a:t>The system directly informs safety interventions — an unvalidated blind spot here carries real physical consequences.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5029200"/>
            <a:ext cx="10332720" cy="18288"/>
          </a:xfrm>
          <a:prstGeom prst="rect">
            <a:avLst/>
          </a:prstGeom>
          <a:solidFill>
            <a:srgbClr val="C9C2B4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516636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7B3F"/>
                </a:solidFill>
              </a:rPr>
              <a:t>Recommendation: Commission a site-specific accuracy and fairness validation study before continuing to rely on this system as a primary safety control.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Governance Starter Pack  –  Site Safety Camera System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B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NIST AI RMF Scorecard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A80"/>
                </a:solidFill>
              </a:rPr>
              <a:t>Average score per function, scale 1 (not addressed) – 5 (fully mature)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463040"/>
            <a:ext cx="3840480" cy="4206240"/>
          </a:xfrm>
          <a:prstGeom prst="roundRect">
            <a:avLst>
              <a:gd name="adj" fmla="val 1905"/>
            </a:avLst>
          </a:prstGeom>
          <a:solidFill>
            <a:srgbClr val="F4F1EC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046720" y="1691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B48"/>
                </a:solidFill>
              </a:rPr>
              <a:t>Reading this chart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46720" y="210312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0604A"/>
                </a:solidFill>
              </a:rPr>
              <a:t>MEASURE scores lowest </a:t>
            </a:r>
            <a:pPr indent="0" marL="0">
              <a:buNone/>
            </a:pPr>
            <a:r>
              <a:rPr lang="en-US" sz="1250" dirty="0">
                <a:solidFill>
                  <a:srgbClr val="26313A"/>
                </a:solidFill>
              </a:rPr>
              <a:t>(1.3/5) — accuracy and fairness testing is the clearest, most urgent gap.
</a:t>
            </a:r>
            <a:pPr indent="0" marL="0">
              <a:buNone/>
            </a:pPr>
            <a:r>
              <a:rPr lang="en-US" sz="1250" b="1" dirty="0">
                <a:solidFill>
                  <a:srgbClr val="26313A"/>
                </a:solidFill>
              </a:rPr>
              <a:t>GOVERN, MAP, and MANAGE </a:t>
            </a:r>
            <a:pPr indent="0" marL="0">
              <a:buNone/>
            </a:pPr>
            <a:r>
              <a:rPr lang="en-US" sz="1250" dirty="0">
                <a:solidFill>
                  <a:srgbClr val="26313A"/>
                </a:solidFill>
              </a:rPr>
              <a:t>are underdeveloped but have a clear, low-effort path forward (name an owner, adopt the policy, add an incident category).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Governance Starter Pack  –  Site Safety Camera System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B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1F4E5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783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B3F"/>
                </a:solidFill>
              </a:rPr>
              <a:t>0–30 DAYS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 governance foundation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0E3"/>
                </a:solidFill>
              </a:rPr>
              <a:t>Approve Acceptable Use Policy. Name accountable system owner. Publish worker notice signage.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4630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1F4E5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663440" y="1783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B3F"/>
                </a:solidFill>
              </a:rPr>
              <a:t>30–90 DAYS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22402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 accuracy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63440" y="310896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0E3"/>
                </a:solidFill>
              </a:rPr>
              <a:t>Commission site-specific detection accuracy testing across lighting, PPE, and demographic variation.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0" y="14630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1F4E5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503920" y="1783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B3F"/>
                </a:solidFill>
              </a:rPr>
              <a:t>90+ DAYS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0" y="22402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 operational gaps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03920" y="310896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0E3"/>
                </a:solidFill>
              </a:rPr>
              <a:t>Add AI-specific incident root-cause category. Establish quarterly performance review cadence.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Governance Starter Pack  –  Site Safety Camera System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Asking Of This Group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68680" y="2194560"/>
            <a:ext cx="502920" cy="502920"/>
          </a:xfrm>
          <a:prstGeom prst="ellipse">
            <a:avLst/>
          </a:prstGeom>
          <a:solidFill>
            <a:srgbClr val="D97B3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6868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14884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Approve the Acceptable Use Policy for rollout.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3108960"/>
            <a:ext cx="502920" cy="502920"/>
          </a:xfrm>
          <a:prstGeom prst="ellipse">
            <a:avLst/>
          </a:prstGeom>
          <a:solidFill>
            <a:srgbClr val="D97B3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306324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Confirm system ownership (recommend EHS Safety Director as accountable owner).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68680" y="4023360"/>
            <a:ext cx="502920" cy="502920"/>
          </a:xfrm>
          <a:prstGeom prst="ellipse">
            <a:avLst/>
          </a:prstGeom>
          <a:solidFill>
            <a:srgbClr val="D97B3F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6868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00200" y="397764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Approve budget/vendor engagement for site-specific accuracy validation testing.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68680" y="5577840"/>
            <a:ext cx="2011680" cy="0"/>
          </a:xfrm>
          <a:prstGeom prst="line">
            <a:avLst/>
          </a:prstGeom>
          <a:noFill/>
          <a:ln w="31750">
            <a:solidFill>
              <a:srgbClr val="D97B3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2960" y="5760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DB"/>
                </a:solidFill>
              </a:rPr>
              <a:t>Supporting documents: Acceptable Use Policy · AI System Register · NIST AI RMF Gap Assessment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David Amoako-Attah</dc:creator>
  <cp:lastModifiedBy>David Amoako-Attah</cp:lastModifiedBy>
  <cp:revision>1</cp:revision>
  <dcterms:created xsi:type="dcterms:W3CDTF">2026-08-08T18:42:14Z</dcterms:created>
  <dcterms:modified xsi:type="dcterms:W3CDTF">2026-08-08T18:42:14Z</dcterms:modified>
</cp:coreProperties>
</file>